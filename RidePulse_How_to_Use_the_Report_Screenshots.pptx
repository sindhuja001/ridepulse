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6B1A"/>
                </a:solidFill>
              </a:defRPr>
            </a:pPr>
            <a:r>
              <a:t>RidePulse</a:t>
            </a:r>
          </a:p>
          <a:p>
            <a:pPr>
              <a:defRPr sz="2800" b="1">
                <a:solidFill>
                  <a:srgbClr val="172B3A"/>
                </a:solidFill>
              </a:defRPr>
            </a:pPr>
            <a:r>
              <a:t>How to Use the Power BI Report</a:t>
            </a:r>
          </a:p>
          <a:p>
            <a:pPr>
              <a:defRPr sz="1400">
                <a:solidFill>
                  <a:srgbClr val="5A646E"/>
                </a:solidFill>
              </a:defRPr>
            </a:pPr>
            <a:r>
              <a:t>Trainer / portfolio submission guide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657600"/>
            <a:ext cx="52120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2B3A"/>
                </a:solidFill>
              </a:defRPr>
            </a:pPr>
            <a:r>
              <a:t>Report capabilities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3 main pages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Bookmarks + page navigation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Dynamic metric switch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Tooltip + drill-through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RLS-enabled zone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6E"/>
                </a:solidFill>
              </a:defRPr>
            </a:pPr>
            <a:r>
              <a:t>RidePulse • How to Use the Report •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2B3A"/>
                </a:solidFill>
              </a:defRPr>
            </a:pPr>
            <a:r>
              <a:t>1. Report Navigation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0292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2B3A"/>
                </a:solidFill>
              </a:defRPr>
            </a:pPr>
            <a:r>
              <a:t>How to navigate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Use the Page Navigator to move between the three main pages.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Executive Overview = management summary.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Demand &amp; Surge Intelligence = demand, supply, surge and wait-time analysis.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Driver &amp; Customer Analytics = driver performance and customer behavior.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Zone Tooltip and Zone Details are supporting pages.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057400"/>
            <a:ext cx="1325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FF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72B3A"/>
                </a:solidFill>
              </a:defRPr>
            </a:pPr>
            <a:r>
              <a:t>Executive</a:t>
            </a:r>
          </a:p>
          <a:p>
            <a:pPr algn="ctr">
              <a:defRPr sz="1000" b="1">
                <a:solidFill>
                  <a:srgbClr val="172B3A"/>
                </a:solidFill>
              </a:defRPr>
            </a:pPr>
            <a:r>
              <a:t>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2057400"/>
            <a:ext cx="1325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FF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72B3A"/>
                </a:solidFill>
              </a:defRPr>
            </a:pPr>
            <a:r>
              <a:t>Demand &amp; Surge</a:t>
            </a:r>
          </a:p>
          <a:p>
            <a:pPr algn="ctr">
              <a:defRPr sz="1000" b="1">
                <a:solidFill>
                  <a:srgbClr val="172B3A"/>
                </a:solidFill>
              </a:defRPr>
            </a:pPr>
            <a:r>
              <a:t>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24160" y="2057400"/>
            <a:ext cx="1325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FF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72B3A"/>
                </a:solidFill>
              </a:defRPr>
            </a:pPr>
            <a:r>
              <a:t>Driver &amp; Customer</a:t>
            </a:r>
          </a:p>
          <a:p>
            <a:pPr algn="ctr">
              <a:defRPr sz="1000" b="1">
                <a:solidFill>
                  <a:srgbClr val="172B3A"/>
                </a:solidFill>
              </a:defRPr>
            </a:pPr>
            <a:r>
              <a:t>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6E"/>
                </a:solidFill>
              </a:defRPr>
            </a:pPr>
            <a:r>
              <a:t>RidePulse • How to Use the Report •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2B3A"/>
                </a:solidFill>
              </a:defRPr>
            </a:pPr>
            <a:r>
              <a:t>2. Executive Overview — Start With the KPIs</a:t>
            </a:r>
          </a:p>
        </p:txBody>
      </p:sp>
      <p:pic>
        <p:nvPicPr>
          <p:cNvPr id="4" name="Picture 3" descr="ridepulse_executive_analytic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8229600" cy="463161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732520" y="1051560"/>
            <a:ext cx="2880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2B3A"/>
                </a:solidFill>
              </a:defRPr>
            </a:pPr>
            <a:r>
              <a:t>How to use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Check KPI cards first.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Use the Date slicer to set the period.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Read the revenue trend for movement over time.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Compare completed vs cancelled rides.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Use zone and ride-type charts for context.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Use Key Insights for headline findings.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6E"/>
                </a:solidFill>
              </a:defRPr>
            </a:pPr>
            <a:r>
              <a:t>RidePulse • How to Use the Report •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2B3A"/>
                </a:solidFill>
              </a:defRPr>
            </a:pPr>
            <a:r>
              <a:t>3. Demand &amp; Surge Intelligence — Find Supply Pressure</a:t>
            </a:r>
          </a:p>
        </p:txBody>
      </p:sp>
      <p:pic>
        <p:nvPicPr>
          <p:cNvPr id="4" name="Picture 3" descr="ridepulse_demand_intelligenc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8275320" cy="465734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732520" y="1051560"/>
            <a:ext cx="2880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2B3A"/>
                </a:solidFill>
              </a:defRPr>
            </a:pPr>
            <a:r>
              <a:t>How to use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Compare demand by zone.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Compare available drivers with demand.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Use Average Surge by Zone to find pricing pressure.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Use Wait Time by Zone for service delays.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Use Ride Demand by Hour for busy periods.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Hover over zones for the custom tooltip.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Use the Dynamic Switch for metric focus.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6E"/>
                </a:solidFill>
              </a:defRPr>
            </a:pPr>
            <a:r>
              <a:t>RidePulse • How to Use the Report •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2B3A"/>
                </a:solidFill>
              </a:defRPr>
            </a:pPr>
            <a:r>
              <a:t>4. Driver &amp; Customer Analytics — Understand Performance</a:t>
            </a:r>
          </a:p>
        </p:txBody>
      </p:sp>
      <p:pic>
        <p:nvPicPr>
          <p:cNvPr id="4" name="Picture 3" descr="ridepulse_driver_analytic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8275320" cy="465734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732520" y="1051560"/>
            <a:ext cx="2880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2B3A"/>
                </a:solidFill>
              </a:defRPr>
            </a:pPr>
            <a:r>
              <a:t>How to use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Review driver earnings and trip distance.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Compare ratings by vehicle/driver segment.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Use customer type and age-group views.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Review customer rating for experience quality.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Use the Date slicer for period analysis.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Read Key Insights for the strongest patterns.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6E"/>
                </a:solidFill>
              </a:defRPr>
            </a:pPr>
            <a:r>
              <a:t>RidePulse • How to Use the Report •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2B3A"/>
                </a:solidFill>
              </a:defRPr>
            </a:pPr>
            <a:r>
              <a:t>5. Bookmarks — Switch the Executive Layout</a:t>
            </a:r>
          </a:p>
        </p:txBody>
      </p:sp>
      <p:pic>
        <p:nvPicPr>
          <p:cNvPr id="4" name="Picture 3" descr="d2868beb-5eba-476d-9acd-d7f5305067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8229600" cy="462539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732520" y="1051560"/>
            <a:ext cx="2880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2B3A"/>
                </a:solidFill>
              </a:defRPr>
            </a:pPr>
            <a:r>
              <a:t>How to use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Executive View emphasizes the management summary.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Analysis View exposes the alternate analytical visuals.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Bookmarks change layout/visibility, not the data.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Use the bookmark buttons on the report page.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Page Navigator still controls page navigation.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6E"/>
                </a:solidFill>
              </a:defRPr>
            </a:pPr>
            <a:r>
              <a:t>RidePulse • How to Use the Report •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2B3A"/>
                </a:solidFill>
              </a:defRPr>
            </a:pPr>
            <a:r>
              <a:t>6. Dynamic Switch — Change the Metric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43000"/>
            <a:ext cx="52120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2B3A"/>
                </a:solidFill>
              </a:defRPr>
            </a:pPr>
            <a:r>
              <a:t>How to use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RidePulse Metric Switch is a Power BI Field Parameter.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Available metrics: Total Rides, Net Revenue and Average Surge.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Selecting a metric changes the connected analytical visual(s).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This avoids duplicating multiple pages/charts.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Combine the switch with the Date slicer and zone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828800"/>
            <a:ext cx="4572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FF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72B3A"/>
                </a:solidFill>
              </a:defRPr>
            </a:pPr>
            <a:r>
              <a:t>RidePulse Metric Switch</a:t>
            </a:r>
          </a:p>
          <a:p>
            <a:pPr>
              <a:defRPr sz="1300">
                <a:solidFill>
                  <a:srgbClr val="5A646E"/>
                </a:solidFill>
              </a:defRPr>
            </a:pPr>
            <a:r>
              <a:t>● Total Rides</a:t>
            </a:r>
          </a:p>
          <a:p>
            <a:pPr>
              <a:defRPr sz="1300">
                <a:solidFill>
                  <a:srgbClr val="5A646E"/>
                </a:solidFill>
              </a:defRPr>
            </a:pPr>
            <a:r>
              <a:t>○ Net Revenue</a:t>
            </a:r>
          </a:p>
          <a:p>
            <a:pPr>
              <a:defRPr sz="1300">
                <a:solidFill>
                  <a:srgbClr val="5A646E"/>
                </a:solidFill>
              </a:defRPr>
            </a:pPr>
            <a:r>
              <a:t>○ Average Surge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6E"/>
                </a:solidFill>
              </a:defRPr>
            </a:pPr>
            <a:r>
              <a:t>RidePulse • How to Use the Report •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2B3A"/>
                </a:solidFill>
              </a:defRPr>
            </a:pPr>
            <a:r>
              <a:t>7. Tooltip &amp; Drill-through — Investigate a Zone</a:t>
            </a:r>
          </a:p>
        </p:txBody>
      </p:sp>
      <p:pic>
        <p:nvPicPr>
          <p:cNvPr id="4" name="Picture 3" descr="6794f6ee-2148-41ed-99dc-8082b26c5b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8229600" cy="412338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732520" y="1051560"/>
            <a:ext cx="2880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2B3A"/>
                </a:solidFill>
              </a:defRPr>
            </a:pPr>
            <a:r>
              <a:t>How to use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Hover over a zone visual for the Zone Tooltip.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Tooltip shows Total Rides, Net Revenue, Average Surge and Average Wait Time.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Right-click a zone and choose Drill-through → Zone Details.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Zone Details uses DIM_ZONE[ZONE_NAME].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Use Back to return to the source page.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6E"/>
                </a:solidFill>
              </a:defRPr>
            </a:pPr>
            <a:r>
              <a:t>RidePulse • How to Use the Report •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2B3A"/>
                </a:solidFill>
              </a:defRPr>
            </a:pPr>
            <a:r>
              <a:t>8. RLS — Zone-Level Security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2B3A"/>
                </a:solidFill>
              </a:defRPr>
            </a:pPr>
            <a:r>
              <a:t>Security rule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Role: Zone_Manager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Filter: DIM_ZONE[ZONE_NAME] = "Guindy"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Filter propagates through the active DIM_ZONE → FACT_RIDES relationship.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RLS has been successfully tested in Power BI Service.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Assign production users/groups to the role and use read/view permissions where RLS enforcement is required.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46520" y="1874519"/>
            <a:ext cx="4572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FF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2B3A"/>
                </a:solidFill>
              </a:defRPr>
            </a:pPr>
            <a:r>
              <a:t>Zone_Manager</a:t>
            </a:r>
          </a:p>
          <a:p>
            <a:pPr>
              <a:defRPr sz="1500">
                <a:solidFill>
                  <a:srgbClr val="5A646E"/>
                </a:solidFill>
                <a:latin typeface="Consolas"/>
              </a:defRPr>
            </a:pPr>
            <a:r>
              <a:t>[ZONE_NAME] = "Guindy"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6E"/>
                </a:solidFill>
              </a:defRPr>
            </a:pPr>
            <a:r>
              <a:t>RidePulse • How to Use the Report •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2B3A"/>
                </a:solidFill>
              </a:defRPr>
            </a:pPr>
            <a:r>
              <a:t>9. Power BI Service — Refresh &amp; Finalization</a:t>
            </a:r>
          </a:p>
        </p:txBody>
      </p:sp>
      <p:pic>
        <p:nvPicPr>
          <p:cNvPr id="4" name="Picture 3" descr="8d387703-30c0-43d0-9778-5f1249fc45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8046720" cy="544990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641080" y="1051560"/>
            <a:ext cx="29718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2B3A"/>
                </a:solidFill>
              </a:defRPr>
            </a:pPr>
            <a:r>
              <a:t>Final checks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Snowflake credentials are configured.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Scheduled refresh is enabled.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Captured Service evidence shows UTC time zone.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Refresh warning relates to Average Driver Rating syntax.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Correct the Desktop DAX, refresh, save, republish and refresh Service.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Record the final configured refresh time in IST.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6E"/>
                </a:solidFill>
              </a:defRPr>
            </a:pPr>
            <a:r>
              <a:t>RidePulse • How to Use the Report •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2B3A"/>
                </a:solidFill>
              </a:defRPr>
            </a:pPr>
            <a:r>
              <a:t>10. KPI Reading &amp; Formatting</a:t>
            </a:r>
          </a:p>
        </p:txBody>
      </p:sp>
      <p:pic>
        <p:nvPicPr>
          <p:cNvPr id="4" name="Picture 3" descr="73a99993-b0bb-432f-9e3b-59393f6a61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8138160" cy="1019116"/>
          </a:xfrm>
          <a:prstGeom prst="rect">
            <a:avLst/>
          </a:prstGeom>
        </p:spPr>
      </p:pic>
      <p:pic>
        <p:nvPicPr>
          <p:cNvPr id="5" name="Picture 4" descr="52f9a593-4d3f-48c8-8596-f5b70488ca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063240"/>
            <a:ext cx="8138160" cy="103495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823960" y="1097280"/>
            <a:ext cx="27432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2B3A"/>
                </a:solidFill>
              </a:defRPr>
            </a:pPr>
            <a:r>
              <a:t>Reading the cards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Currency values may use K for compact display.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Driver Earnings should carry a currency symbol.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Average Wait Time should be labelled in minutes.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Ratings use a 5-point scale.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Supply/Demand is unitless.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Trend arrows are comparisons; interpret direction by metric.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6E"/>
                </a:solidFill>
              </a:defRPr>
            </a:pPr>
            <a:r>
              <a:t>RidePulse • How to Use the Report •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2B3A"/>
                </a:solidFill>
              </a:defRPr>
            </a:pPr>
            <a:r>
              <a:t>11. Recommended User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1088136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2B3A"/>
                </a:solidFill>
              </a:defRPr>
            </a:pPr>
            <a:r>
              <a:t>8-step analysis flow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1 — Select the required date range.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2 — Start on Executive Overview and review KPIs.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3 — Use bookmarks for the alternate Executive layout.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4 — Move to Demand &amp; Surge Intelligence for zone/supply analysis.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5 — Use the Dynamic Switch to change the metric.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6 — Hover over zones for tooltip context.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7 — Drill through to Zone Details when deeper investigation is needed.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8 — Move to Driver &amp; Customer Analytics for performance and customer patterns.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6E"/>
                </a:solidFill>
              </a:defRPr>
            </a:pPr>
            <a:r>
              <a:t>RidePulse • How to Use the Report •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2B3A"/>
                </a:solidFill>
              </a:defRPr>
            </a:pPr>
            <a:r>
              <a:t>12. Trainer Submission Checklist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534924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2B3A"/>
                </a:solidFill>
              </a:defRPr>
            </a:pPr>
            <a:r>
              <a:t>Power BI Desktop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☐ PBIX saved with final changes.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☐ Three main pages verified.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☐ Page Navigator verified.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☐ Bookmarks verified.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☐ Dynamic Switch verified.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☐ Tooltip verified.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☐ Drill-through verified.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051560"/>
            <a:ext cx="534924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2B3A"/>
                </a:solidFill>
              </a:defRPr>
            </a:pPr>
            <a:r>
              <a:t>Power BI Service &amp; documents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☐ RLS verified.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☐ Snowflake credentials verified.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☐ Average Driver Rating warning cleared.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☐ Scheduled refresh configured with final IST time.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☐ Data Architecture document updated.</a:t>
            </a:r>
          </a:p>
          <a:p>
            <a:pPr>
              <a:spcAft>
                <a:spcPts val="400"/>
              </a:spcAft>
              <a:defRPr sz="1100">
                <a:solidFill>
                  <a:srgbClr val="5A646E"/>
                </a:solidFill>
              </a:defRPr>
            </a:pPr>
            <a:r>
              <a:t>• ☐ This How-to-Use PPT submitted with screenshots.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6E"/>
                </a:solidFill>
              </a:defRPr>
            </a:pPr>
            <a:r>
              <a:t>RidePulse • How to Use the Report •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